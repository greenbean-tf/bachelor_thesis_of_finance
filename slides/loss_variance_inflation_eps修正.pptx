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312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969264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CADCFC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37160"/>
            <a:ext cx="8707831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σ/μ 比值檢查（兩種算法）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1472" y="292608"/>
            <a:ext cx="2148840" cy="384048"/>
          </a:xfrm>
          <a:prstGeom prst="roundRect">
            <a:avLst>
              <a:gd name="adj" fmla="val 4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第一段：分布過寬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5526B"/>
                </a:solidFill>
                <a:latin typeface="Calibri"/>
              </a:rPr>
              <a:t>初步：「平均值的比值」— mean(σ)/mean(μ)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變數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mean(μ)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mean(σ)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RTop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2.825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1.516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0.537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Top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6.423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3.087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0.481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Close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5.047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3.565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33"/>
                          </a:solidFill>
                          <a:latin typeface="Calibri"/>
                        </a:rPr>
                        <a:t>0.706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63640" y="150876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2763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B03333"/>
                </a:solidFill>
                <a:latin typeface="Calibri"/>
              </a:rPr>
              <a:t>質疑：每筆配對 μ、σ 都不同，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02433"/>
                </a:solidFill>
                <a:latin typeface="Calibri"/>
              </a:rPr>
              <a:t>平均值的比值可能被大 μ 樣本主導、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02433"/>
                </a:solidFill>
                <a:latin typeface="Calibri"/>
              </a:rPr>
              <a:t>掩蓋掉小 μ 卻同樣寬的配對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5526B"/>
                </a:solidFill>
                <a:latin typeface="Calibri"/>
              </a:rPr>
              <a:t>修正：改用「逐筆比值分布」重新驗證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3703320"/>
          <a:ext cx="11155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變數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RTop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0.482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0.496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0.368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0.599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Top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0.349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0.360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0.309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0.397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Close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0.707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0.708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0.693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02433"/>
                          </a:solidFill>
                          <a:latin typeface="Calibri"/>
                        </a:rPr>
                        <a:t>0.723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654710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兩種算法結論一致，且逐筆版本方法論更嚴謹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969264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CADCFC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37160"/>
            <a:ext cx="8707831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描述性統計：普遍性、系統性的比值偏高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1472" y="292608"/>
            <a:ext cx="2148840" cy="384048"/>
          </a:xfrm>
          <a:prstGeom prst="roundRect">
            <a:avLst>
              <a:gd name="adj" fmla="val 4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第一段：分布過寬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429000" cy="8046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600" b="1" i="0">
                <a:solidFill>
                  <a:srgbClr val="B03333"/>
                </a:solidFill>
                <a:latin typeface="Calibri"/>
              </a:rPr>
              <a:t>0.05~0.06%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128723"/>
            <a:ext cx="346557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45526B"/>
                </a:solidFill>
                <a:latin typeface="Calibri"/>
              </a:rPr>
              <a:t>ratio &gt; 1 的比例
(σ比μ還大)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371600"/>
            <a:ext cx="3429000" cy="8046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400" b="1" i="0">
                <a:solidFill>
                  <a:srgbClr val="1E2761"/>
                </a:solidFill>
                <a:latin typeface="Calibri"/>
              </a:rPr>
              <a:t>mean ≈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128723"/>
            <a:ext cx="346557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45526B"/>
                </a:solidFill>
                <a:latin typeface="Calibri"/>
              </a:rPr>
              <a:t>三者皆成立，非離群值
拉偏平均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801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371600"/>
            <a:ext cx="3429000" cy="8046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200" b="1" i="0">
                <a:solidFill>
                  <a:srgbClr val="E88A2E"/>
                </a:solidFill>
                <a:latin typeface="Calibri"/>
              </a:rPr>
              <a:t>Close &gt; RTop &gt; 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28723"/>
            <a:ext cx="346557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45526B"/>
                </a:solidFill>
                <a:latin typeface="Calibri"/>
              </a:rPr>
              <a:t>比值大小排序
(0.71 &gt; 0.50 &gt; 0.36)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63240"/>
            <a:ext cx="111556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這裡能講的、跟不能講的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400"/>
              </a:spcAft>
              <a:buFont typeface="Arial"/>
              <a:buChar char="–"/>
            </a:pPr>
            <a:r>
              <a:rPr sz="1500">
                <a:solidFill>
                  <a:srgbClr val="202433"/>
                </a:solidFill>
                <a:latin typeface="Calibri"/>
              </a:rPr>
              <a:t>mean 與 median 幾乎相等 → 不是被少數離群值拉偏，是整體分布真實集中在此區間</a:t>
            </a:r>
          </a:p>
          <a:p>
            <a:pPr marL="228600" indent="-228600">
              <a:spcAft>
                <a:spcPts val="1400"/>
              </a:spcAft>
              <a:buFont typeface="Arial"/>
              <a:buChar char="–"/>
            </a:pPr>
            <a:r>
              <a:rPr sz="1500">
                <a:solidFill>
                  <a:srgbClr val="202433"/>
                </a:solidFill>
                <a:latin typeface="Calibri"/>
              </a:rPr>
              <a:t>ratio &gt; 1 幾乎不存在 → 代表不是少數異常樣本，而是幾乎每一筆配對都有此現象</a:t>
            </a:r>
          </a:p>
          <a:p>
            <a:pPr marL="228600" indent="-228600">
              <a:spcAft>
                <a:spcPts val="1400"/>
              </a:spcAft>
              <a:buFont typeface="Arial"/>
              <a:buChar char="–"/>
            </a:pPr>
            <a:r>
              <a:rPr sz="1500">
                <a:solidFill>
                  <a:srgbClr val="202433"/>
                </a:solidFill>
                <a:latin typeface="Calibri"/>
              </a:rPr>
              <a:t>⚠️ 但 σ/μ 比值只是相對大小的描述，不能直接說「σ 校準過頭」——</a:t>
            </a:r>
          </a:p>
          <a:p>
            <a:pPr marL="228600" indent="-228600">
              <a:spcAft>
                <a:spcPts val="1400"/>
              </a:spcAft>
              <a:buFont typeface="Arial"/>
              <a:buChar char="–"/>
            </a:pPr>
            <a:r>
              <a:rPr sz="1500">
                <a:solidFill>
                  <a:srgbClr val="202433"/>
                </a:solidFill>
                <a:latin typeface="Calibri"/>
              </a:rPr>
              <a:t>這個比值本身沒有跟任何校準基準比較過，見下一頁的直接檢驗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261872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CADCFC"/>
                </a:solidFill>
                <a:latin typeface="Calibri"/>
              </a:rPr>
              <a:t>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9112" y="137160"/>
            <a:ext cx="8415223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校準檢驗：σ 真的偏大嗎？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4432" y="292608"/>
            <a:ext cx="1325880" cy="384048"/>
          </a:xfrm>
          <a:prstGeom prst="roundRect">
            <a:avLst>
              <a:gd name="adj" fmla="val 40000"/>
            </a:avLst>
          </a:prstGeom>
          <a:solidFill>
            <a:srgbClr val="B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重大修正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5526B"/>
                </a:solidFill>
                <a:latin typeface="Calibri"/>
              </a:rPr>
              <a:t>用真實標籤直接算 z = (真實值 - 模型預測μ) / 模型預測σ，若校準得當應服從標準分布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6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變數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z 的 std（實際）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理論值（校準得當）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倍數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RTop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2.98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≈1.28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2.3倍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Top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2.51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≈1.28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2.0倍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Close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433"/>
                          </a:solidFill>
                          <a:latin typeface="Calibri"/>
                        </a:rPr>
                        <a:t>1.37倍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611880"/>
            <a:ext cx="11155680" cy="2377440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B03333"/>
                </a:solidFill>
                <a:latin typeface="Calibri"/>
              </a:rPr>
              <a:t>結論：方向可能相反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z 的 std 全部遠大於理論值 → 真實誤差比σ暗示的還要大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代表模型可能低估自己的不確定性，不是高估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「σ過寬 / variance inflation」這個特定敘事需要下修，不再視為確定結論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下一段的NLL數學機制仍然成立，但用它來解釋「σ/μ比值高」需要保留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969264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CADCFC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37160"/>
            <a:ext cx="8707831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NLL Loss 理論機制 + Loss Curve 實證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1472" y="292608"/>
            <a:ext cx="2148840" cy="384048"/>
          </a:xfrm>
          <a:prstGeom prst="roundRect">
            <a:avLst>
              <a:gd name="adj" fmla="val 4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第二段：理論探討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1556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數學推導（理論上成立的機制，非已確認的成因）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02433"/>
                </a:solidFill>
                <a:latin typeface="Courier New"/>
              </a:rPr>
              <a:t>loss = log(σ) + 常數 + e²/(2σ²)</a:t>
            </a:r>
            <a:r>
              <a:rPr sz="1500" b="1" i="0">
                <a:solidFill>
                  <a:srgbClr val="B03333"/>
                </a:solidFill>
                <a:latin typeface="Courier New"/>
              </a:rPr>
              <a:t>      → 對 σ 微分求最小值：σ = |e|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5526B"/>
                </a:solidFill>
                <a:latin typeface="Calibri"/>
              </a:rPr>
              <a:t>(e = 固定的預測誤差) —— 誤差無法再降低時，數學上「放寬σ」反而讓loss更小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111556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Loss Curve 實證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Font typeface="Arial"/>
              <a:buChar char="–"/>
            </a:pPr>
            <a:r>
              <a:rPr sz="1450">
                <a:solidFill>
                  <a:srgbClr val="202433"/>
                </a:solidFill>
                <a:latin typeface="Calibri"/>
              </a:rPr>
              <a:t>Train loss 提早凍結在 4.1~4.3，之後幾乎不再下降</a:t>
            </a:r>
          </a:p>
          <a:p>
            <a:pPr marL="228600" indent="-228600">
              <a:spcAft>
                <a:spcPts val="1200"/>
              </a:spcAft>
              <a:buFont typeface="Arial"/>
              <a:buChar char="–"/>
            </a:pPr>
            <a:r>
              <a:rPr sz="1450">
                <a:solidFill>
                  <a:srgbClr val="202433"/>
                </a:solidFill>
                <a:latin typeface="Calibri"/>
              </a:rPr>
              <a:t>Val/Test loss 劇烈震盪且不隨訓練收斂，訓練尾聲反而爆出最大尖峰</a:t>
            </a:r>
          </a:p>
          <a:p>
            <a:pPr marL="228600" indent="-228600">
              <a:spcAft>
                <a:spcPts val="1200"/>
              </a:spcAft>
              <a:buFont typeface="Arial"/>
              <a:buChar char="–"/>
            </a:pPr>
            <a:r>
              <a:rPr sz="1450">
                <a:solidFill>
                  <a:srgbClr val="202433"/>
                </a:solidFill>
                <a:latin typeface="Calibri"/>
              </a:rPr>
              <a:t>清洗前（原始資料）vs 清洗一輪後（v1）兩張圖比較：晚期不穩定模式幾乎一樣</a:t>
            </a:r>
          </a:p>
          <a:p>
            <a:pPr marL="228600" indent="-228600">
              <a:spcAft>
                <a:spcPts val="1200"/>
              </a:spcAft>
              <a:buFont typeface="Arial"/>
              <a:buChar char="–"/>
            </a:pPr>
            <a:r>
              <a:rPr sz="1450">
                <a:solidFill>
                  <a:srgbClr val="202433"/>
                </a:solidFill>
                <a:latin typeface="Calibri"/>
              </a:rPr>
              <a:t>代表這個不穩定現象跟「清洗一輪」與否無關，機制上持續存在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969264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CADCFC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37160"/>
            <a:ext cx="8707831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為什麼 Loss 會跑到異常負值？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79992" y="292608"/>
            <a:ext cx="2560320" cy="384048"/>
          </a:xfrm>
          <a:prstGeom prst="roundRect">
            <a:avLst>
              <a:gd name="adj" fmla="val 40000"/>
            </a:avLst>
          </a:prstGeom>
          <a:solidFill>
            <a:srgbClr val="B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第三段：eps 修正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1556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NLL 沒有下界的另一面：σ 崩塌（獨立於前段的推論，直接由公式驗證）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少數樣本：模型剛好預測準（e很小），同時把σ壓極小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log(σ) 在 σ→0 時會衝向負無限大 —— 連續分布 NLL 沒有下界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這正是懷疑「造成打不贏 baseline」的異常負值現象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46120"/>
            <a:ext cx="11155680" cy="2743200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40156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03333"/>
                </a:solidFill>
                <a:latin typeface="Calibri"/>
              </a:rPr>
              <a:t>現有機制的盲區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22191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現有 cond_threshold 只監控相關係數矩陣 R 是否接近奇異，有filter機制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完全沒監控 σ_rtop/σ_top/σ_close 本身崩塌的情況 —— 這是獨立的第二條路徑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可能解釋「v0→v1 清洗後異常樣本不減反增」的現象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969264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CADCFC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37160"/>
            <a:ext cx="8707831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發現的 Bug 與修正內容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79992" y="292608"/>
            <a:ext cx="2560320" cy="384048"/>
          </a:xfrm>
          <a:prstGeom prst="roundRect">
            <a:avLst>
              <a:gd name="adj" fmla="val 40000"/>
            </a:avLst>
          </a:prstGeom>
          <a:solidFill>
            <a:srgbClr val="B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第三段：eps 修正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15568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具體發現的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45526B"/>
                </a:solidFill>
                <a:latin typeface="Calibri"/>
              </a:rPr>
              <a:t>【修正前】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1" i="0">
                <a:solidFill>
                  <a:srgbClr val="2E7D32"/>
                </a:solidFill>
                <a:latin typeface="Courier New"/>
              </a:rPr>
              <a:t>Gumbel項： log(torch.max(sigma, eps))   ← 有保護</a:t>
            </a:r>
          </a:p>
          <a:p>
            <a:pPr algn="l">
              <a:lnSpc>
                <a:spcPct val="140000"/>
              </a:lnSpc>
            </a:pPr>
            <a:r>
              <a:rPr sz="1350" b="1" i="0">
                <a:solidFill>
                  <a:srgbClr val="B03333"/>
                </a:solidFill>
                <a:latin typeface="Courier New"/>
              </a:rPr>
              <a:t>Normal項： log(torch.square(sigma))    ← 沒保護！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7560"/>
            <a:ext cx="111556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修正內容 【修正後：Normal項改成 log(torch.square(torch.max(sigma, eps)))】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1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GaussCopGumLoss 裡的 Close_Normal_loss 是唯一沒下界保護的一項（目前實際使用中）</a:t>
            </a:r>
          </a:p>
          <a:p>
            <a:pPr marL="228600" indent="-228600">
              <a:spcAft>
                <a:spcPts val="11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四個 loss class 全部補上 eps 保護，讓 Normal 項跟 Gumbel 項一致</a:t>
            </a:r>
          </a:p>
          <a:p>
            <a:pPr marL="228600" indent="-228600">
              <a:spcAft>
                <a:spcPts val="11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新增 sigma 崩塌監控：仿照 R 矩陣條件數機制，σ&lt;0.01 就記錄+排除</a:t>
            </a:r>
          </a:p>
          <a:p>
            <a:pPr marL="228600" indent="-228600">
              <a:spcAft>
                <a:spcPts val="11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clean_data.py 同步更新，合併兩個 log 來源的異常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969264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CADCFC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37160"/>
            <a:ext cx="8707831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本次訓練改了什麼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5732" y="292608"/>
            <a:ext cx="2354580" cy="384048"/>
          </a:xfrm>
          <a:prstGeom prst="roundRect">
            <a:avLst>
              <a:gd name="adj" fmla="val 4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第四段：訓練與驗證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4068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程式碼改動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1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loss.py：eps保護 + sigma崩塌監控 + epoch追蹤欄位</a:t>
            </a:r>
          </a:p>
          <a:p>
            <a:pPr marL="228600" indent="-228600">
              <a:spcAft>
                <a:spcPts val="11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hyperparameters.py：設定統一（resume_from_checkpoint=False、data_version_override=0）</a:t>
            </a:r>
          </a:p>
          <a:p>
            <a:pPr marL="228600" indent="-228600">
              <a:spcAft>
                <a:spcPts val="11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重新從最原始 cleaned_data_v0.pickle 開始，完全從頭訓練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43000"/>
            <a:ext cx="5532120" cy="2834640"/>
          </a:xfrm>
          <a:prstGeom prst="roundRect">
            <a:avLst>
              <a:gd name="adj" fmla="val 5000"/>
            </a:avLst>
          </a:prstGeom>
          <a:solidFill>
            <a:srgbClr val="FC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88A2E"/>
                </a:solidFill>
                <a:latin typeface="Calibri"/>
              </a:rPr>
              <a:t>為什麼加 epoch 追蹤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1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同一配對平均重複觸發約11次</a:t>
            </a:r>
          </a:p>
          <a:p>
            <a:pPr marL="228600" indent="-228600">
              <a:spcAft>
                <a:spcPts val="11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兩種可能：配對本身真的有問題，或模型當時剛好不穩定</a:t>
            </a:r>
          </a:p>
          <a:p>
            <a:pPr marL="228600" indent="-228600">
              <a:spcAft>
                <a:spcPts val="11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新增epoch欄位後，可分析重複觸發是否集中在早期不穩定階段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06240"/>
            <a:ext cx="11155680" cy="16916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ADCFC"/>
                </a:solidFill>
                <a:latin typeface="Calibri"/>
              </a:rPr>
              <a:t>目前狀態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新訓練已啟動，進行中（截至確認時約 epoch 19）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969264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CADCFC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37160"/>
            <a:ext cx="8707831" cy="685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驗證計畫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5732" y="292608"/>
            <a:ext cx="2354580" cy="384048"/>
          </a:xfrm>
          <a:prstGeom prst="roundRect">
            <a:avLst>
              <a:gd name="adj" fmla="val 4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第四段：訓練與驗證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2588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E2761"/>
                </a:solidFill>
                <a:latin typeface="Calibri"/>
              </a:rPr>
              <a:t>Loss Curve 比對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1907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5526B"/>
                </a:solidFill>
                <a:latin typeface="Calibri"/>
              </a:rPr>
              <a:t>新舊 loss curve 疊圖比較，尖峰是否消失或縮小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6888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276148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7614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0604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E2761"/>
                </a:solidFill>
                <a:latin typeface="Calibri"/>
              </a:rPr>
              <a:t>Sigma 崩塌監控量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9923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5526B"/>
                </a:solidFill>
                <a:latin typeface="Calibri"/>
              </a:rPr>
              <a:t>sigma_collapse_data_v0.csv 累積量，驗證這個現象的真實普遍程度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404164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0416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8620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E2761"/>
                </a:solidFill>
                <a:latin typeface="Calibri"/>
              </a:rPr>
              <a:t>清洗趨勢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7939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5526B"/>
                </a:solidFill>
                <a:latin typeface="Calibri"/>
              </a:rPr>
              <a:t>v0→v1 這次是否終於轉向下降，而非不減反增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29199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5321807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32180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66359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E2761"/>
                </a:solidFill>
                <a:latin typeface="Calibri"/>
              </a:rPr>
              <a:t>Backtest 指標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559551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5526B"/>
                </a:solidFill>
                <a:latin typeface="Calibri"/>
              </a:rPr>
              <a:t>Total P&amp;L、Predictor1 specificity、T_o median 是否進一步改善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需以上幾項同時成立，才能確認「eps bug + 監控盲區」是問題真正成因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680</Words>
  <Application>Microsoft Office PowerPoint</Application>
  <PresentationFormat>寬螢幕</PresentationFormat>
  <Paragraphs>147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梁家熏</cp:lastModifiedBy>
  <cp:revision>2</cp:revision>
  <dcterms:created xsi:type="dcterms:W3CDTF">2013-01-27T09:14:16Z</dcterms:created>
  <dcterms:modified xsi:type="dcterms:W3CDTF">2026-07-13T16:27:06Z</dcterms:modified>
  <cp:category/>
</cp:coreProperties>
</file>