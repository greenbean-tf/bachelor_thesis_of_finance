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99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08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3291840" cy="3291840"/>
          </a:xfrm>
          <a:prstGeom prst="ellipse">
            <a:avLst/>
          </a:prstGeom>
          <a:solidFill>
            <a:srgbClr val="26308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265176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 table 資料驗證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3429000"/>
            <a:ext cx="11887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資料診斷報告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31630" y="2971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選取驗證期間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三種驗證區間之選取邏輯與對應日期範圍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/>
          <a:effectLst>
            <a:outerShdw blurRad="101600" dist="38100" dir="5400000" algn="bl" rotWithShape="0">
              <a:srgbClr val="8A93A8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914400" y="20299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損失期間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267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PERIOD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34286" y="1912503"/>
            <a:ext cx="0" cy="914400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063240" y="173736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2022/04/25 ~ 2022/04/28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/>
          <a:effectLst>
            <a:outerShdw blurRad="101600" dist="38100" dir="5400000" algn="bl" rotWithShape="0">
              <a:srgbClr val="8A93A8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36301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1440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平穩期間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867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PERIOD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47181" y="3520440"/>
            <a:ext cx="0" cy="914400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063240" y="3319272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2022/06/06 ~ 2022/06/08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/>
          <a:effectLst>
            <a:outerShdw blurRad="101600" dist="38100" dir="5400000" algn="bl" rotWithShape="0">
              <a:srgbClr val="8A93A8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5230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14400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120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隨機選取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5468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47181" y="5120640"/>
            <a:ext cx="0" cy="914400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118338" y="4901184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2018/10/24 ~ 2018/10/26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577840" y="1417320"/>
            <a:ext cx="5971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PROFIT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1737360"/>
            <a:ext cx="5971032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8A93A8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28" name="Image 0" descr="/mnt/user-data/uploads/Cumulative_profit__2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116" y="2011680"/>
            <a:ext cx="53644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2103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驗證結果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殘差檢測的 portmanteau test 跟 Normality test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FBEA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932688" y="187909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32688" y="18790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 formation table 繼承了張歆樺程式碼的缺陷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5F7FC"/>
          </a:solidFill>
          <a:ln/>
          <a:effectLst>
            <a:outerShdw blurRad="101600" dist="38100" dir="5400000" algn="bl" rotWithShape="0">
              <a:srgbClr val="8A93A8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60120" y="268833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原程式碼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2706624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270662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3145536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232B4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143000" y="323697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model.fit(p).test_whiteness(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nlags = 5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).pvalue &lt; 0.05: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91072" y="2487168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5F7FC"/>
          </a:solidFill>
          <a:ln/>
          <a:effectLst>
            <a:outerShdw blurRad="101600" dist="38100" dir="5400000" algn="bl" rotWithShape="0">
              <a:srgbClr val="8A93A8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611112" y="268833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較適合的寫法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405872" y="2706624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0405872" y="270662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11112" y="3145536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232B4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793992" y="323697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model.fit(p).test_whiteness(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nlags = p+1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).pvalue &lt; 0.05: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為最適落後期數：VAR(p) / VECM(p-1)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4745736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以 2018/10/24 為例</a:t>
            </a:r>
            <a:endParaRPr lang="en-US" sz="2000" b="1" dirty="0"/>
          </a:p>
        </p:txBody>
      </p:sp>
      <p:sp>
        <p:nvSpPr>
          <p:cNvPr id="23" name="Shape 21"/>
          <p:cNvSpPr/>
          <p:nvPr/>
        </p:nvSpPr>
        <p:spPr>
          <a:xfrm>
            <a:off x="640080" y="5111496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  <a:effectLst>
            <a:outerShdw blurRad="101600" dist="38100" dir="5400000" algn="bl" rotWithShape="0">
              <a:srgbClr val="8A93A8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1005840" y="520293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147,112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1005840" y="5769864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 formation table 配對數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91072" y="5111496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F5F7FC"/>
          </a:solidFill>
          <a:ln/>
          <a:effectLst>
            <a:outerShdw blurRad="101600" dist="38100" dir="5400000" algn="bl" rotWithShape="0">
              <a:srgbClr val="8A93A8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656832" y="520293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8,468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656832" y="5769864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新寫法 formation table 配對數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61288" y="327543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其他可能的問題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8A93A8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932688" y="20802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32688" y="20802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96286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沒有時間標記及成交量，無法完全肯定為 VWAP（volume-weighted average price）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8A93A8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932688" y="32049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32688" y="32049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2953512"/>
            <a:ext cx="96286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台股開盤刪除前 16 分鐘，不一定適用美股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078224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8A93A8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32688" y="43296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32688" y="43296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96286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尚未考慮 VECM 穩健性（Frobenius norm）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202936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8A93A8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32688" y="54543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32688" y="54543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5202936"/>
            <a:ext cx="96286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台股交易期開始於中午 12 點之前（8:30 開盤，166 分鐘後為 11:16），美股交易期開始於中午 12 點之後（9:30 開盤，166 分鐘後為 12:16）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167</Words>
  <Application>Microsoft Office PowerPoint</Application>
  <PresentationFormat>寬螢幕</PresentationFormat>
  <Paragraphs>53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Courier New</vt:lpstr>
      <vt:lpstr>Office Theme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梁家熏</cp:lastModifiedBy>
  <cp:revision>3</cp:revision>
  <dcterms:created xsi:type="dcterms:W3CDTF">2026-07-26T14:36:11Z</dcterms:created>
  <dcterms:modified xsi:type="dcterms:W3CDTF">2026-07-26T14:42:45Z</dcterms:modified>
</cp:coreProperties>
</file>