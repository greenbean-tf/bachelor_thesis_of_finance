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312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r>
              <a:rPr lang="en-US" sz="1300" b="1">
                <a:solidFill>
                  <a:srgbClr val="45526B"/>
                </a:solidFill>
              </a:rPr>
              <a:t>Total P&amp;L </a:t>
            </a:r>
            <a:r>
              <a:rPr lang="zh-TW" altLang="en-US" sz="1300" b="1">
                <a:solidFill>
                  <a:srgbClr val="45526B"/>
                </a:solidFill>
              </a:rPr>
              <a:t>對照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DL Model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>
                    <a:solidFill>
                      <a:srgbClr val="202433"/>
                    </a:solidFill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全期</c:v>
                </c:pt>
                <c:pt idx="1">
                  <c:v>前段
(升息劇烈)</c:v>
                </c:pt>
                <c:pt idx="2">
                  <c:v>後段
(相對穩定)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385436</c:v>
                </c:pt>
                <c:pt idx="1">
                  <c:v>222957</c:v>
                </c:pt>
                <c:pt idx="2">
                  <c:v>162479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B64-4A43-A580-AF01CF70B7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EC9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>
                    <a:solidFill>
                      <a:srgbClr val="202433"/>
                    </a:solidFill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全期</c:v>
                </c:pt>
                <c:pt idx="1">
                  <c:v>前段
(升息劇烈)</c:v>
                </c:pt>
                <c:pt idx="2">
                  <c:v>後段
(相對穩定)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577465</c:v>
                </c:pt>
                <c:pt idx="1">
                  <c:v>317574</c:v>
                </c:pt>
                <c:pt idx="2">
                  <c:v>259891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B64-4A43-A580-AF01CF70B7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5DAE5"/>
            </a:solidFill>
          </a:ln>
        </c:spPr>
        <c:txPr>
          <a:bodyPr/>
          <a:lstStyle/>
          <a:p>
            <a:pPr>
              <a:defRPr sz="1200">
                <a:solidFill>
                  <a:srgbClr val="45526B"/>
                </a:solidFill>
              </a:defRPr>
            </a:pPr>
            <a:endParaRPr lang="zh-TW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majorGridlines>
          <c:spPr>
            <a:ln>
              <a:solidFill>
                <a:srgbClr val="E7EAF1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45526B"/>
              </a:solidFill>
            </a:defRPr>
          </a:pPr>
          <a:endParaRPr lang="zh-TW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r>
              <a:rPr lang="en-US" sz="1300" b="1">
                <a:solidFill>
                  <a:srgbClr val="45526B"/>
                </a:solidFill>
              </a:rPr>
              <a:t>Total P&amp;L </a:t>
            </a:r>
            <a:r>
              <a:rPr lang="zh-TW" altLang="en-US" sz="1300" b="1">
                <a:solidFill>
                  <a:srgbClr val="45526B"/>
                </a:solidFill>
              </a:rPr>
              <a:t>變化 </a:t>
            </a:r>
            <a:r>
              <a:rPr lang="en-US" altLang="zh-TW" sz="1300" b="1">
                <a:solidFill>
                  <a:srgbClr val="45526B"/>
                </a:solidFill>
              </a:rPr>
              <a:t>(+4.3%)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P&amp;L</c:v>
                </c:pt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1E2761"/>
              </a:solidFill>
            </c:spPr>
            <c:extLst>
              <c:ext xmlns:c16="http://schemas.microsoft.com/office/drawing/2014/chart" uri="{C3380CC4-5D6E-409C-BE32-E72D297353CC}">
                <c16:uniqueId val="{00000001-649C-4E60-A2C0-CD057CF5DD2A}"/>
              </c:ext>
            </c:extLst>
          </c:dPt>
          <c:dPt>
            <c:idx val="1"/>
            <c:invertIfNegative val="1"/>
            <c:bubble3D val="0"/>
            <c:spPr>
              <a:solidFill>
                <a:srgbClr val="E88A2E"/>
              </a:solidFill>
            </c:spPr>
            <c:extLst>
              <c:ext xmlns:c16="http://schemas.microsoft.com/office/drawing/2014/chart" uri="{C3380CC4-5D6E-409C-BE32-E72D297353CC}">
                <c16:uniqueId val="{00000003-649C-4E60-A2C0-CD057CF5DD2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>
                    <a:solidFill>
                      <a:srgbClr val="202433"/>
                    </a:solidFill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原始 (≥0.65)</c:v>
                </c:pt>
                <c:pt idx="1">
                  <c:v>must_open=True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385436</c:v>
                </c:pt>
                <c:pt idx="1">
                  <c:v>401839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49C-4E60-A2C0-CD057CF5DD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5DAE5"/>
            </a:solidFill>
          </a:ln>
        </c:spPr>
        <c:txPr>
          <a:bodyPr/>
          <a:lstStyle/>
          <a:p>
            <a:pPr>
              <a:defRPr sz="1200">
                <a:solidFill>
                  <a:srgbClr val="45526B"/>
                </a:solidFill>
              </a:defRPr>
            </a:pPr>
            <a:endParaRPr lang="zh-TW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majorGridlines>
          <c:spPr>
            <a:ln>
              <a:solidFill>
                <a:srgbClr val="E7EAF1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r>
              <a:rPr lang="en-US" sz="1300" b="1">
                <a:solidFill>
                  <a:srgbClr val="45526B"/>
                </a:solidFill>
              </a:rPr>
              <a:t>Total P&amp;L：</a:t>
            </a:r>
            <a:r>
              <a:rPr lang="zh-TW" altLang="en-US" sz="1300" b="1">
                <a:solidFill>
                  <a:srgbClr val="45526B"/>
                </a:solidFill>
              </a:rPr>
              <a:t>反而下降 </a:t>
            </a:r>
            <a:r>
              <a:rPr lang="en-US" altLang="zh-TW" sz="1300" b="1">
                <a:solidFill>
                  <a:srgbClr val="45526B"/>
                </a:solidFill>
              </a:rPr>
              <a:t>8.1%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2.5252525252525252E-2"/>
          <c:y val="0.13111111111111112"/>
          <c:w val="0.95370370370370372"/>
          <c:h val="0.7319082336930106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P&amp;L</c:v>
                </c:pt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2E7D32"/>
              </a:solidFill>
            </c:spPr>
            <c:extLst>
              <c:ext xmlns:c16="http://schemas.microsoft.com/office/drawing/2014/chart" uri="{C3380CC4-5D6E-409C-BE32-E72D297353CC}">
                <c16:uniqueId val="{00000001-9DD7-4BCB-BF42-FD5B7A85D259}"/>
              </c:ext>
            </c:extLst>
          </c:dPt>
          <c:dPt>
            <c:idx val="1"/>
            <c:invertIfNegative val="1"/>
            <c:bubble3D val="0"/>
            <c:spPr/>
            <c:extLst>
              <c:ext xmlns:c16="http://schemas.microsoft.com/office/drawing/2014/chart" uri="{C3380CC4-5D6E-409C-BE32-E72D297353CC}">
                <c16:uniqueId val="{00000003-9DD7-4BCB-BF42-FD5B7A85D259}"/>
              </c:ext>
            </c:extLst>
          </c:dPt>
          <c:dLbls>
            <c:dLbl>
              <c:idx val="1"/>
              <c:layout>
                <c:manualLayout>
                  <c:x val="-2.1043771043771043E-3"/>
                  <c:y val="-2.22253815495285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DD7-4BCB-BF42-FD5B7A85D25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202433"/>
                    </a:solidFill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過濾前
(False)</c:v>
                </c:pt>
                <c:pt idx="1">
                  <c:v>過濾後
(True)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385436</c:v>
                </c:pt>
                <c:pt idx="1">
                  <c:v>354092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D7-4BCB-BF42-FD5B7A85D2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5DAE5"/>
            </a:solidFill>
          </a:ln>
        </c:spPr>
        <c:txPr>
          <a:bodyPr/>
          <a:lstStyle/>
          <a:p>
            <a:pPr>
              <a:defRPr sz="1300" b="1">
                <a:solidFill>
                  <a:srgbClr val="45526B"/>
                </a:solidFill>
              </a:defRPr>
            </a:pPr>
            <a:endParaRPr lang="zh-TW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1"/>
        <c:axPos val="l"/>
        <c:majorGridlines>
          <c:spPr>
            <a:ln>
              <a:solidFill>
                <a:srgbClr val="E7EAF1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81CFDF-1C7D-4CFA-B346-E72F8AEF5F48}" type="datetimeFigureOut">
              <a:rPr lang="zh-TW" altLang="en-US" smtClean="0"/>
              <a:t>2026/6/29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A8FEA-5257-4B73-95A9-197F59A915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289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A8FEA-5257-4B73-95A9-197F59A9159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3338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23317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CADCFC"/>
                </a:solidFill>
                <a:latin typeface="Calibri"/>
              </a:rPr>
              <a:t>GGWP_US_LLTL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71800"/>
            <a:ext cx="106070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DL Model 落後 Baseline 診斷報告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美股市場回測表現分析與根因排查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617720"/>
            <a:ext cx="1463040" cy="411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8A96B8"/>
                </a:solidFill>
                <a:latin typeface="Calibri"/>
              </a:rPr>
              <a:t>Pairs Trading Strategy · ResNet + Transformer · Gaussian Copula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問題背景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202433"/>
                </a:solidFill>
                <a:latin typeface="Calibri"/>
              </a:rPr>
              <a:t>論文中 GGWP（DL model）在台股市場勝過固定 1.5σ 門檻的 baseline，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202433"/>
                </a:solidFill>
                <a:latin typeface="Calibri"/>
              </a:rPr>
              <a:t>但移植到美股大型股市場後，測試期（2021/10–2023/10）結果反轉：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441448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3200" b="1" i="0">
                <a:solidFill>
                  <a:srgbClr val="B03333"/>
                </a:solidFill>
                <a:latin typeface="Calibri"/>
              </a:rPr>
              <a:t>385,436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45526B"/>
                </a:solidFill>
                <a:latin typeface="Calibri"/>
              </a:rPr>
              <a:t>DL Model
Total P&amp;L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33172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51960" y="2441448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3200" b="1" i="0">
                <a:solidFill>
                  <a:srgbClr val="2E7D32"/>
                </a:solidFill>
                <a:latin typeface="Calibri"/>
              </a:rPr>
              <a:t>577,465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42900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45526B"/>
                </a:solidFill>
                <a:latin typeface="Calibri"/>
              </a:rPr>
              <a:t>Baseline (1.5σ)
Total P&amp;L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33172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20" y="2441448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3200" b="1" i="0">
                <a:solidFill>
                  <a:srgbClr val="E88A2E"/>
                </a:solidFill>
                <a:latin typeface="Calibri"/>
              </a:rPr>
              <a:t>-192,030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429000"/>
            <a:ext cx="37490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45526B"/>
                </a:solidFill>
                <a:latin typeface="Calibri"/>
              </a:rPr>
              <a:t>DL 落後金額
(-33%)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26280"/>
            <a:ext cx="1106424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63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研究目標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000"/>
              </a:spcAft>
              <a:buFont typeface="Arial"/>
              <a:buChar char="–"/>
            </a:pPr>
            <a:r>
              <a:rPr sz="1450">
                <a:solidFill>
                  <a:srgbClr val="202433"/>
                </a:solidFill>
                <a:latin typeface="Calibri"/>
              </a:rPr>
              <a:t>找出 DL model 系統性落後 baseline 的根本原因</a:t>
            </a:r>
          </a:p>
          <a:p>
            <a:pPr marL="228600" indent="-228600">
              <a:spcAft>
                <a:spcPts val="1000"/>
              </a:spcAft>
              <a:buFont typeface="Arial"/>
              <a:buChar char="–"/>
            </a:pPr>
            <a:r>
              <a:rPr sz="1450">
                <a:solidFill>
                  <a:srgbClr val="202433"/>
                </a:solidFill>
                <a:latin typeface="Calibri"/>
              </a:rPr>
              <a:t>依「資料問題」vs「模型問題」分流診斷，避免錯誤方向浪費 GPU 額度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471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3B5"/>
                </a:solidFill>
                <a:latin typeface="Calibri"/>
              </a:rPr>
              <a:t>GGWP_US_LLTL 診斷報告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診斷路線圖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19072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88A2E"/>
                </a:solidFill>
                <a:latin typeface="Calibri"/>
              </a:rPr>
              <a:t>步驟1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79" y="1737360"/>
            <a:ext cx="914400" cy="384048"/>
          </a:xfrm>
          <a:prstGeom prst="roundRect">
            <a:avLst>
              <a:gd name="adj" fmla="val 40000"/>
            </a:avLst>
          </a:prstGeom>
          <a:solidFill>
            <a:srgbClr val="B0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否證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76272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E2761"/>
                </a:solidFill>
                <a:latin typeface="Calibri"/>
              </a:rPr>
              <a:t>Regime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5526B"/>
                </a:solidFill>
                <a:latin typeface="Calibri"/>
              </a:rPr>
              <a:t>市場週期斷裂造成？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719072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88A2E"/>
                </a:solidFill>
                <a:latin typeface="Calibri"/>
              </a:rPr>
              <a:t>步驟2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1737360"/>
            <a:ext cx="914400" cy="384048"/>
          </a:xfrm>
          <a:prstGeom prst="roundRect">
            <a:avLst>
              <a:gd name="adj" fmla="val 4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成立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76272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E2761"/>
                </a:solidFill>
                <a:latin typeface="Calibri"/>
              </a:rPr>
              <a:t>T_o 分布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5526B"/>
                </a:solidFill>
                <a:latin typeface="Calibri"/>
              </a:rPr>
              <a:t>開倉門檻系統性偏小？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913631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88A2E"/>
                </a:solidFill>
                <a:latin typeface="Calibri"/>
              </a:rPr>
              <a:t>步驟3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79" y="3931920"/>
            <a:ext cx="914400" cy="384048"/>
          </a:xfrm>
          <a:prstGeom prst="roundRect">
            <a:avLst>
              <a:gd name="adj" fmla="val 4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成立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70831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E2761"/>
                </a:solidFill>
                <a:latin typeface="Calibri"/>
              </a:rPr>
              <a:t>機率篩選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46320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5526B"/>
                </a:solidFill>
                <a:latin typeface="Calibri"/>
              </a:rPr>
              <a:t>0.65 門檻濾掉真利潤？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49039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913631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88A2E"/>
                </a:solidFill>
                <a:latin typeface="Calibri"/>
              </a:rPr>
              <a:t>步驟3.5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69880" y="3931920"/>
            <a:ext cx="914400" cy="384048"/>
          </a:xfrm>
          <a:prstGeom prst="roundRect">
            <a:avLst>
              <a:gd name="adj" fmla="val 40000"/>
            </a:avLst>
          </a:prstGeom>
          <a:solidFill>
            <a:srgbClr val="B0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否證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70831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E2761"/>
                </a:solidFill>
                <a:latin typeface="Calibri"/>
              </a:rPr>
              <a:t>Expected Profit 過濾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846320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5526B"/>
                </a:solidFill>
                <a:latin typeface="Calibri"/>
              </a:rPr>
              <a:t>濾掉負期望值有效？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45526B"/>
                </a:solidFill>
                <a:latin typeface="Calibri"/>
              </a:rPr>
              <a:t>四個假設逐一驗證 → 收斂到「模型校準」問題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471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892808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CADCFC"/>
                </a:solidFill>
                <a:latin typeface="Calibri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164592"/>
            <a:ext cx="7388352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Regime Shift 假設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20172" y="338328"/>
            <a:ext cx="1120140" cy="384048"/>
          </a:xfrm>
          <a:prstGeom prst="roundRect">
            <a:avLst>
              <a:gd name="adj" fmla="val 40000"/>
            </a:avLst>
          </a:prstGeom>
          <a:solidFill>
            <a:srgbClr val="B0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已否證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5526B"/>
                </a:solidFill>
                <a:latin typeface="Calibri"/>
              </a:rPr>
              <a:t>把 test 期間切成「升息劇烈期」與「相對穩定期」兩段，分別比較 DL 與 Baseline 表現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920240"/>
          <a:ext cx="64008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178040" y="1920240"/>
            <a:ext cx="44348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210312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關鍵發現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514600"/>
            <a:ext cx="4023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400"/>
              </a:spcAft>
              <a:buFont typeface="Arial"/>
              <a:buChar char="–"/>
            </a:pPr>
            <a:r>
              <a:rPr sz="1350">
                <a:solidFill>
                  <a:srgbClr val="202433"/>
                </a:solidFill>
                <a:latin typeface="Calibri"/>
              </a:rPr>
              <a:t>DL 在「後段」輸 Baseline 的幅度（-97,413）反而比「前段」更大（-94,617）</a:t>
            </a:r>
          </a:p>
          <a:p>
            <a:pPr marL="228600" indent="-228600">
              <a:spcAft>
                <a:spcPts val="1400"/>
              </a:spcAft>
              <a:buFont typeface="Arial"/>
              <a:buChar char="–"/>
            </a:pPr>
            <a:r>
              <a:rPr sz="1350">
                <a:solidFill>
                  <a:srgbClr val="202433"/>
                </a:solidFill>
                <a:latin typeface="Calibri"/>
              </a:rPr>
              <a:t>排除交易量影響的 Profit/open 差距，後段更糟：-0.0444 vs -0.0341</a:t>
            </a:r>
          </a:p>
          <a:p>
            <a:pPr marL="228600" indent="-228600">
              <a:spcAft>
                <a:spcPts val="1400"/>
              </a:spcAft>
              <a:buFont typeface="Arial"/>
              <a:buChar char="–"/>
            </a:pPr>
            <a:r>
              <a:rPr sz="1350">
                <a:solidFill>
                  <a:srgbClr val="202433"/>
                </a:solidFill>
                <a:latin typeface="Calibri"/>
              </a:rPr>
              <a:t>若是 regime shift 造成，後段應明顯拉近差距——實際上沒有發生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5486400"/>
            <a:ext cx="4023360" cy="457200"/>
          </a:xfrm>
          <a:prstGeom prst="roundRect">
            <a:avLst>
              <a:gd name="adj" fmla="val 8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0" y="555955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B03333"/>
                </a:solidFill>
                <a:latin typeface="Calibri"/>
              </a:rPr>
              <a:t>問題是結構性的，跟時間區段無關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471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3B5"/>
                </a:solidFill>
                <a:latin typeface="Calibri"/>
              </a:rPr>
              <a:t>資料來源：analysis/output/step1_regime_split_comparison.csv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892808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CADCFC"/>
                </a:solidFill>
                <a:latin typeface="Calibri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164592"/>
            <a:ext cx="7388352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T_o 開倉門檻分布檢查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8692" y="338328"/>
            <a:ext cx="1531620" cy="384048"/>
          </a:xfrm>
          <a:prstGeom prst="roundRect">
            <a:avLst>
              <a:gd name="adj" fmla="val 4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已確認成立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5526B"/>
                </a:solidFill>
                <a:latin typeface="Calibri"/>
              </a:rPr>
              <a:t>檢查 DL 模型實際預測的開倉門檻，跟 Baseline 固定值 1.5 比較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4688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38528"/>
            <a:ext cx="2194560" cy="7040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3000" b="1" i="0">
                <a:solidFill>
                  <a:srgbClr val="B03333"/>
                </a:solidFill>
                <a:latin typeface="Calibri"/>
              </a:rPr>
              <a:t>1.04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96896"/>
            <a:ext cx="2286000" cy="448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45526B"/>
                </a:solidFill>
                <a:latin typeface="Calibri"/>
              </a:rPr>
              <a:t>Median T_o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828800"/>
            <a:ext cx="24688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938528"/>
            <a:ext cx="2194560" cy="7040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3000" b="1" i="0">
                <a:solidFill>
                  <a:srgbClr val="1E2761"/>
                </a:solidFill>
                <a:latin typeface="Calibri"/>
              </a:rPr>
              <a:t>1.50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596896"/>
            <a:ext cx="2286000" cy="448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45526B"/>
                </a:solidFill>
                <a:latin typeface="Calibri"/>
              </a:rPr>
              <a:t>Baseline 固定值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1828800"/>
            <a:ext cx="24688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97880" y="1938528"/>
            <a:ext cx="2194560" cy="7040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2600" b="1" i="0">
                <a:solidFill>
                  <a:srgbClr val="E88A2E"/>
                </a:solidFill>
                <a:latin typeface="Calibri"/>
              </a:rPr>
              <a:t>66.2%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59" y="2596896"/>
            <a:ext cx="2286000" cy="448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45526B"/>
                </a:solidFill>
                <a:latin typeface="Calibri"/>
              </a:rPr>
              <a:t>T_o &lt; 1.5 的比例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28803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1938528"/>
            <a:ext cx="2606040" cy="70408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2600" b="1" i="0">
                <a:solidFill>
                  <a:srgbClr val="E88A2E"/>
                </a:solidFill>
                <a:latin typeface="Calibri"/>
              </a:rPr>
              <a:t>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596896"/>
            <a:ext cx="2697479" cy="448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45526B"/>
                </a:solidFill>
                <a:latin typeface="Calibri"/>
              </a:rPr>
              <a:t>Median 僅為 Baseline 之比例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46120"/>
            <a:ext cx="502920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3832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為什麼會「贏小錢」？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7947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000"/>
              </a:spcAft>
              <a:buFont typeface="Arial"/>
              <a:buChar char="–"/>
            </a:pPr>
            <a:r>
              <a:rPr sz="1300">
                <a:solidFill>
                  <a:srgbClr val="202433"/>
                </a:solidFill>
                <a:latin typeface="Calibri"/>
              </a:rPr>
              <a:t>Win per open：DL 72.4% 高於 Baseline 69.0%</a:t>
            </a:r>
          </a:p>
          <a:p>
            <a:pPr marL="228600" indent="-228600">
              <a:spcAft>
                <a:spcPts val="1000"/>
              </a:spcAft>
              <a:buFont typeface="Arial"/>
              <a:buChar char="–"/>
            </a:pPr>
            <a:r>
              <a:rPr sz="1300">
                <a:solidFill>
                  <a:srgbClr val="202433"/>
                </a:solidFill>
                <a:latin typeface="Calibri"/>
              </a:rPr>
              <a:t>True earn per win：DL 1.605 低於 Baseline 1.967</a:t>
            </a:r>
          </a:p>
          <a:p>
            <a:pPr marL="228600" indent="-228600">
              <a:spcAft>
                <a:spcPts val="1000"/>
              </a:spcAft>
              <a:buFont typeface="Arial"/>
              <a:buChar char="–"/>
            </a:pPr>
            <a:r>
              <a:rPr sz="1300">
                <a:solidFill>
                  <a:srgbClr val="202433"/>
                </a:solidFill>
                <a:latin typeface="Calibri"/>
              </a:rPr>
              <a:t>模型系統性把門檻設得更小，犧牲單筆獲利換取更高觸發機率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246120"/>
            <a:ext cx="585216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0" y="336499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Final_Open_Threshold 分布圖</a:t>
            </a:r>
          </a:p>
        </p:txBody>
      </p:sp>
      <p:pic>
        <p:nvPicPr>
          <p:cNvPr id="24" name="Picture 23" descr="step2_To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783" y="3703320"/>
            <a:ext cx="6159477" cy="219981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48640" y="65471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3B5"/>
                </a:solidFill>
                <a:latin typeface="Calibri"/>
              </a:rPr>
              <a:t>資料來源：analysis/output/step2_To_distribution_stats.csv, step2_To_distribution.png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892808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CADCFC"/>
                </a:solidFill>
                <a:latin typeface="Calibri"/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1488" y="164592"/>
            <a:ext cx="7388352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機率篩選驗證（含 must_open=True 重跑實證）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8692" y="338328"/>
            <a:ext cx="1531620" cy="384048"/>
          </a:xfrm>
          <a:prstGeom prst="roundRect">
            <a:avLst>
              <a:gd name="adj" fmla="val 4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已確認成立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45526B"/>
                </a:solidFill>
                <a:latin typeface="Calibri"/>
              </a:rPr>
              <a:t>revert 機率 &lt; 0.65 的配對原本被擋掉開倉，調低門檻讓它們真的進場交易後：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783080"/>
          <a:ext cx="61264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903720" y="1783080"/>
            <a:ext cx="47091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192024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Calibri"/>
              </a:rPr>
              <a:t>被篩掉那群配對的真實淨損益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33172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000"/>
              </a:spcAft>
              <a:buFont typeface="Arial"/>
              <a:buChar char="–"/>
            </a:pPr>
            <a:r>
              <a:rPr sz="1350">
                <a:solidFill>
                  <a:srgbClr val="202433"/>
                </a:solidFill>
                <a:latin typeface="Calibri"/>
              </a:rPr>
              <a:t>n=251,913（真開倉 215,268）</a:t>
            </a:r>
          </a:p>
          <a:p>
            <a:pPr marL="228600" indent="-228600">
              <a:spcAft>
                <a:spcPts val="1000"/>
              </a:spcAft>
              <a:buFont typeface="Arial"/>
              <a:buChar char="–"/>
            </a:pPr>
            <a:r>
              <a:rPr sz="1350">
                <a:solidFill>
                  <a:srgbClr val="202433"/>
                </a:solidFill>
                <a:latin typeface="Calibri"/>
              </a:rPr>
              <a:t>Total P&amp;L：+16,403.64（確實淨賺）</a:t>
            </a:r>
          </a:p>
          <a:p>
            <a:pPr marL="228600" indent="-228600">
              <a:spcAft>
                <a:spcPts val="1000"/>
              </a:spcAft>
              <a:buFont typeface="Arial"/>
              <a:buChar char="–"/>
            </a:pPr>
            <a:r>
              <a:rPr sz="1350">
                <a:solidFill>
                  <a:srgbClr val="202433"/>
                </a:solidFill>
                <a:latin typeface="Calibri"/>
              </a:rPr>
              <a:t>Profit per open：0.076（保留組的 63%）</a:t>
            </a:r>
          </a:p>
          <a:p>
            <a:pPr marL="228600" indent="-228600">
              <a:spcAft>
                <a:spcPts val="1000"/>
              </a:spcAft>
              <a:buFont typeface="Arial"/>
              <a:buChar char="–"/>
            </a:pPr>
            <a:r>
              <a:rPr sz="1350">
                <a:solidFill>
                  <a:srgbClr val="202433"/>
                </a:solidFill>
                <a:latin typeface="Calibri"/>
              </a:rPr>
              <a:t>Win rate per open：54.5%（保留組 ~71%）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92040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EC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E7D32"/>
                </a:solidFill>
                <a:latin typeface="Calibri"/>
              </a:rPr>
              <a:t>方向正確但效益有限：</a:t>
            </a:r>
            <a:r>
              <a:rPr sz="1400" b="0" i="0">
                <a:solidFill>
                  <a:srgbClr val="202433"/>
                </a:solidFill>
                <a:latin typeface="Calibri"/>
              </a:rPr>
              <a:t>僅填補 DL-Baseline 差距的 8.5%，且 MDD 惡化（-48,283→-53,370）、Sharpe 微降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02433"/>
                </a:solidFill>
                <a:latin typeface="Calibri"/>
              </a:rPr>
              <a:t>跟步驟2、3.5同一種模式：篩選方向沒錯，cutoff 位置犧牲了「贏的時候賺更多」的配對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471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3B5"/>
                </a:solidFill>
                <a:latin typeface="Calibri"/>
              </a:rPr>
              <a:t>資料來源：analysis/output/step3_profit_by_bin.csv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附錄數據：Revert_Prob 校準曲線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5526B"/>
                </a:solidFill>
                <a:latin typeface="Calibri"/>
              </a:rPr>
              <a:t>資料來源：analysis/output/step3_prob_calibration.csv —— 按機率分箱統計真實 revert 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63040" y="1783080"/>
          <a:ext cx="92354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Revert_Prob 區間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樣本數 n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真實 Revert 率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0.30 - 0.35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191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57.1%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0.35 - 0.40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11,664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56.5%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0.40 - 0.45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22,026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58.4%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0.45 - 0.50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32,854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60.9%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0.50 - 0.55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46,154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63.0%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0.55 - 0.60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60,887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65.6%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0.60 - 0.65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78,137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67.3%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0.65 - 0.70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101,777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69.7%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0.70 - 0.75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144,398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71.8%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0.75 - 0.80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224,308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74.3%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0.80 - 0.85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438,353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77.1%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0.85 - 0.90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917,137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82.5%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0.90 - 0.95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1,600,079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86.8%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0.95 - 1.00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16,992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76.8%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5471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3B5"/>
                </a:solidFill>
                <a:latin typeface="Calibri"/>
              </a:rPr>
              <a:t>0.65 為原始 open_prob_threshold 切點；&lt; 0.65 的配對原本被歸為 Non_Open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附錄數據：must_open=True 按機率分箱的獲利明細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5526B"/>
                </a:solidFill>
                <a:latin typeface="Calibri"/>
              </a:rPr>
              <a:t>資料來源：analysis/output/step3_profit_by_bin.csv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69848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784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Revert_Prob 區間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開倉數 n_opened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Win Rate/open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Profit/open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Total Profit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8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0.30 - 0.35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153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63.4%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0.747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8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0.35 - 0.40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9,491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53.4%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0.051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484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8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0.40 - 0.45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18,051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52.6%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0.022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390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8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0.45 - 0.50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27,194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54.0%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0.113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3,074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8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0.50 - 0.55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38,970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54.4%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0.117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4,542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8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0.55 - 0.60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52,296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54.5%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0.063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3,283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8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0.60 - 0.65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69,113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55.3%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0.065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4,515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78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0.65 - 0.70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92,779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56.9%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0.105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9,768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78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0.70 - 0.75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135,324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58.3%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0.157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21,178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78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0.75 - 0.80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216,153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60.8%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0.115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24,901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78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0.80 - 0.85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430,737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64.2%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0.109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47,050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78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0.85 - 0.90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911,144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70.8%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0.138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126,049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78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0.90 - 0.95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1,407,802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80.2%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0.109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152,690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78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0.95 - 1.00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14,041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68.5%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0.271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433"/>
                          </a:solidFill>
                          <a:latin typeface="Calibri"/>
                        </a:rPr>
                        <a:t>3,799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5471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3B5"/>
                </a:solidFill>
                <a:latin typeface="Calibri"/>
              </a:rPr>
              <a:t>所有機率區間的 total_profit 都是正值，沒有任何一段是淨虧損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附錄數據：predict_rtop / predict_top 分布統計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5526B"/>
                </a:solidFill>
                <a:latin typeface="Calibri"/>
              </a:rPr>
              <a:t>資料來源：analysis/output/step6_rtop_distribution_stats.csv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691640"/>
          <a:ext cx="9966956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837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統計量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rtop_all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top_all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rtop_opened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top_opened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2.609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6.432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2.509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6.233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std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3.544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8.785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3.686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9.231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0.036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0.101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0.036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0.101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383.781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2755.318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383.781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2755.318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1%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0.468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1.003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0.463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0.975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0.772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1.821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0.784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1.722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0.995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2.477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1.024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2.346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1.460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3.760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1.487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3.544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median (50%)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2.211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5.606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2.177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5.378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3.250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8.045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3.048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7.843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4.399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11.001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3.960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10.736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5.306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13.068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4.676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12.689</a:t>
                      </a:r>
                    </a:p>
                  </a:txBody>
                  <a:tcPr marL="45720" marR="45720" marT="9144" marB="9144" anchor="ctr"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99%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7.605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18.399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7.633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18.014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5471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3B5"/>
                </a:solidFill>
                <a:latin typeface="Calibri"/>
              </a:rPr>
              <a:t>rtop_opened / top_opened：僅統計 Final_Open_Threshold &gt; 0 的配對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581912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CADCFC"/>
                </a:solidFill>
                <a:latin typeface="Calibri"/>
              </a:rPr>
              <a:t>附帶發現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50592" y="164592"/>
            <a:ext cx="7699248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Predictor1 機率輸出分布異常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14432" y="338328"/>
            <a:ext cx="1325880" cy="384048"/>
          </a:xfrm>
          <a:prstGeom prst="roundRect">
            <a:avLst>
              <a:gd name="adj" fmla="val 40000"/>
            </a:avLst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校準線索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5526B"/>
                </a:solidFill>
                <a:latin typeface="Calibri"/>
              </a:rPr>
              <a:t>抽樣檢查 Revert_Prob 最小值與分布，發現模型幾乎不輸出低信心判斷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121408"/>
            <a:ext cx="2377440" cy="90525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3200" b="1" i="0">
                <a:solidFill>
                  <a:srgbClr val="B03333"/>
                </a:solidFill>
                <a:latin typeface="Calibri"/>
              </a:rPr>
              <a:t>0.345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99232"/>
            <a:ext cx="2468879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45526B"/>
                </a:solidFill>
                <a:latin typeface="Calibri"/>
              </a:rPr>
              <a:t>樣本最小值
(50天樣本)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01168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2121408"/>
            <a:ext cx="2377440" cy="90525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3200" b="1" i="0">
                <a:solidFill>
                  <a:srgbClr val="1E2761"/>
                </a:solidFill>
                <a:latin typeface="Calibri"/>
              </a:rPr>
              <a:t>0.846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99232"/>
            <a:ext cx="2468879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45526B"/>
                </a:solidFill>
                <a:latin typeface="Calibri"/>
              </a:rPr>
              <a:t>平均值 (Mean)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2121408"/>
            <a:ext cx="2377440" cy="90525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3200" b="1" i="0">
                <a:solidFill>
                  <a:srgbClr val="1E2761"/>
                </a:solidFill>
                <a:latin typeface="Calibri"/>
              </a:rPr>
              <a:t>0.890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999232"/>
            <a:ext cx="2468879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45526B"/>
                </a:solidFill>
                <a:latin typeface="Calibri"/>
              </a:rPr>
              <a:t>中位數 (Median)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2011680"/>
            <a:ext cx="25603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9720" y="2121408"/>
            <a:ext cx="2286000" cy="90525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3400" b="1" i="0">
                <a:solidFill>
                  <a:srgbClr val="B03333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999232"/>
            <a:ext cx="2377439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45526B"/>
                </a:solidFill>
                <a:latin typeface="Calibri"/>
              </a:rPr>
              <a:t>&lt; 0.3 的
樣本數量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3192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意義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200"/>
              </a:spcAft>
              <a:buFont typeface="Arial"/>
              <a:buChar char="–"/>
            </a:pPr>
            <a:r>
              <a:rPr sz="1400">
                <a:solidFill>
                  <a:srgbClr val="202433"/>
                </a:solidFill>
                <a:latin typeface="Calibri"/>
              </a:rPr>
              <a:t>Predictor1 的 Sigmoid 輸出整體被「壓縮」在高信心區間，很少表達低信心判斷</a:t>
            </a:r>
          </a:p>
          <a:p>
            <a:pPr marL="228600" indent="-228600">
              <a:spcAft>
                <a:spcPts val="1200"/>
              </a:spcAft>
              <a:buFont typeface="Arial"/>
              <a:buChar char="–"/>
            </a:pPr>
            <a:r>
              <a:rPr sz="1400">
                <a:solidFill>
                  <a:srgbClr val="202433"/>
                </a:solidFill>
                <a:latin typeface="Calibri"/>
              </a:rPr>
              <a:t>跟 Predictor2-4 的分布參數校準問題是同一個大方向的現象，但發生在二元分類而非回歸</a:t>
            </a:r>
          </a:p>
          <a:p>
            <a:pPr marL="228600" indent="-228600">
              <a:spcAft>
                <a:spcPts val="1200"/>
              </a:spcAft>
              <a:buFont typeface="Arial"/>
              <a:buChar char="–"/>
            </a:pPr>
            <a:r>
              <a:rPr sz="1400">
                <a:solidFill>
                  <a:srgbClr val="202433"/>
                </a:solidFill>
                <a:latin typeface="Calibri"/>
              </a:rPr>
              <a:t>代表校準問題可能不是單一 predictor 的個別缺陷，而是訓練流程/loss設計層面的系統性現象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471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2203704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CADCFC"/>
                </a:solidFill>
                <a:latin typeface="Calibri"/>
              </a:rPr>
              <a:t>STEP 3.5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72384" y="164592"/>
            <a:ext cx="7077456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Expected Profit 為負的配對過濾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02952" y="338328"/>
            <a:ext cx="1737360" cy="384048"/>
          </a:xfrm>
          <a:prstGeom prst="roundRect">
            <a:avLst>
              <a:gd name="adj" fmla="val 40000"/>
            </a:avLst>
          </a:prstGeom>
          <a:solidFill>
            <a:srgbClr val="B0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已否證並撤回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45526B"/>
                </a:solidFill>
                <a:latin typeface="Calibri"/>
              </a:rPr>
              <a:t>模型自己算出 expected_return&lt;0 卻照常開倉 —— 過濾掉這些配對是否能改善績效？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59577"/>
              </p:ext>
            </p:extLst>
          </p:nvPr>
        </p:nvGraphicFramePr>
        <p:xfrm>
          <a:off x="548640" y="1783080"/>
          <a:ext cx="60350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12280" y="1783080"/>
            <a:ext cx="48006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0" y="19202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Calibri"/>
              </a:rPr>
              <a:t>其他指標變化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33172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–"/>
            </a:pPr>
            <a:r>
              <a:rPr sz="1300">
                <a:solidFill>
                  <a:srgbClr val="202433"/>
                </a:solidFill>
                <a:latin typeface="Calibri"/>
              </a:rPr>
              <a:t>Profit per open：0.1201 → 0.1292（✓ 提升）</a:t>
            </a:r>
          </a:p>
          <a:p>
            <a:pPr marL="228600" indent="-228600">
              <a:spcAft>
                <a:spcPts val="800"/>
              </a:spcAft>
              <a:buFont typeface="Arial"/>
              <a:buChar char="–"/>
            </a:pPr>
            <a:r>
              <a:rPr sz="1300">
                <a:solidFill>
                  <a:srgbClr val="202433"/>
                </a:solidFill>
                <a:latin typeface="Calibri"/>
              </a:rPr>
              <a:t>True earn per win：1.605 → 1.756（✓ 提升）</a:t>
            </a:r>
          </a:p>
          <a:p>
            <a:pPr marL="228600" indent="-228600">
              <a:spcAft>
                <a:spcPts val="800"/>
              </a:spcAft>
              <a:buFont typeface="Arial"/>
              <a:buChar char="–"/>
            </a:pPr>
            <a:r>
              <a:rPr sz="1300">
                <a:solidFill>
                  <a:srgbClr val="202433"/>
                </a:solidFill>
                <a:latin typeface="Calibri"/>
              </a:rPr>
              <a:t>MDD：-48,283 → -33,467（✓ 改善 31%）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4023360"/>
            <a:ext cx="4389120" cy="1691640"/>
          </a:xfrm>
          <a:prstGeom prst="roundRect">
            <a:avLst>
              <a:gd name="adj" fmla="val 6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0" y="4160520"/>
            <a:ext cx="40233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02433"/>
                </a:solidFill>
                <a:latin typeface="Calibri"/>
              </a:rPr>
              <a:t>被擋掉46.8萬筆，反推真實平均獲利 ≈ +0.067（仍是正值）</a:t>
            </a:r>
          </a:p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B03333"/>
                </a:solidFill>
                <a:latin typeface="Calibri"/>
              </a:rPr>
              <a:t>排序方向是對的，但「0」這個絕對門檻砍過頭，連帶丟掉了普通賺錢的配對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471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3B5"/>
                </a:solidFill>
                <a:latin typeface="Calibri"/>
              </a:rPr>
              <a:t>已撤回：hyperparameters.py do_discard_expect_prof_threshold=False</a:t>
            </a:r>
          </a:p>
        </p:txBody>
      </p:sp>
    </p:spTree>
    <p:extLst>
      <p:ext uri="{BB962C8B-B14F-4D97-AF65-F5344CB8AC3E}">
        <p14:creationId xmlns:p14="http://schemas.microsoft.com/office/powerpoint/2010/main" val="2771824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STEP 5：資料清洗現況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527048"/>
            <a:ext cx="5120640" cy="85496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3200" b="1" i="0">
                <a:solidFill>
                  <a:srgbClr val="1E2761"/>
                </a:solidFill>
                <a:latin typeface="Calibri"/>
              </a:rPr>
              <a:t>239.9MB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50008"/>
            <a:ext cx="5212080" cy="544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45526B"/>
                </a:solidFill>
                <a:latin typeface="Calibri"/>
              </a:rPr>
              <a:t>v0 清洗 ill-conditioned 樣本量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27048"/>
            <a:ext cx="5074920" cy="85496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3200" b="1" i="0">
                <a:solidFill>
                  <a:srgbClr val="E88A2E"/>
                </a:solidFill>
                <a:latin typeface="Calibri"/>
              </a:rPr>
              <a:t>292.4MB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79" y="2350008"/>
            <a:ext cx="5166359" cy="544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45526B"/>
                </a:solidFill>
                <a:latin typeface="Calibri"/>
              </a:rPr>
              <a:t>v1 清洗 ill-conditioned 樣本量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11064240" cy="2880360"/>
          </a:xfrm>
          <a:prstGeom prst="roundRect">
            <a:avLst>
              <a:gd name="adj" fmla="val 6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B03333"/>
                </a:solidFill>
                <a:latin typeface="Calibri"/>
              </a:rPr>
              <a:t>v0→v1 清洗一輪後，ill-conditioned 樣本不減反增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400"/>
              </a:spcAft>
              <a:buFont typeface="Arial"/>
              <a:buChar char="–"/>
            </a:pPr>
            <a:r>
              <a:rPr sz="1500">
                <a:solidFill>
                  <a:srgbClr val="202433"/>
                </a:solidFill>
                <a:latin typeface="Calibri"/>
              </a:rPr>
              <a:t>代表清洗可能尚未收斂</a:t>
            </a:r>
          </a:p>
          <a:p>
            <a:pPr marL="228600" indent="-228600">
              <a:spcAft>
                <a:spcPts val="1400"/>
              </a:spcAft>
              <a:buFont typeface="Arial"/>
              <a:buChar char="–"/>
            </a:pPr>
            <a:r>
              <a:rPr sz="1500">
                <a:solidFill>
                  <a:srgbClr val="202433"/>
                </a:solidFill>
                <a:latin typeface="Calibri"/>
              </a:rPr>
              <a:t>可能是模型校準問題的成因之一</a:t>
            </a:r>
          </a:p>
          <a:p>
            <a:pPr marL="228600" indent="-228600">
              <a:spcAft>
                <a:spcPts val="1400"/>
              </a:spcAft>
              <a:buFont typeface="Arial"/>
              <a:buChar char="–"/>
            </a:pPr>
            <a:r>
              <a:rPr sz="1500">
                <a:solidFill>
                  <a:srgbClr val="202433"/>
                </a:solidFill>
                <a:latin typeface="Calibri"/>
              </a:rPr>
              <a:t>需評估是否要再跑一輪清洗 (v1→v2)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471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3B5"/>
                </a:solidFill>
                <a:latin typeface="Calibri"/>
              </a:rPr>
              <a:t>資料來源：data_cleaning/ill_conditioned_data_v0.csv, v1.csv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總結結論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04007" y="1554480"/>
            <a:ext cx="3108960" cy="1051560"/>
          </a:xfrm>
          <a:prstGeom prst="roundRect">
            <a:avLst>
              <a:gd name="adj" fmla="val 10000"/>
            </a:avLst>
          </a:prstGeom>
          <a:solidFill>
            <a:srgbClr val="2B3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95447" y="1627632"/>
            <a:ext cx="2926079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CADCFC"/>
                </a:solidFill>
                <a:latin typeface="Calibri"/>
              </a:rPr>
              <a:t>Step 1
Regime Shift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8727" y="1554480"/>
            <a:ext cx="3108960" cy="1051560"/>
          </a:xfrm>
          <a:prstGeom prst="roundRect">
            <a:avLst>
              <a:gd name="adj" fmla="val 10000"/>
            </a:avLst>
          </a:prstGeom>
          <a:solidFill>
            <a:srgbClr val="2B3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70167" y="1627632"/>
            <a:ext cx="2926079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CADCFC"/>
                </a:solidFill>
                <a:latin typeface="Calibri"/>
              </a:rPr>
              <a:t>Step 3.5
Exp.Profit過濾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80360"/>
            <a:ext cx="11094415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E88A2E"/>
                </a:solidFill>
                <a:latin typeface="Calibri"/>
              </a:rPr>
              <a:t>皆已否證 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429000"/>
            <a:ext cx="4846320" cy="1371600"/>
          </a:xfrm>
          <a:prstGeom prst="roundRect">
            <a:avLst>
              <a:gd name="adj" fmla="val 10000"/>
            </a:avLst>
          </a:prstGeom>
          <a:solidFill>
            <a:srgbClr val="E88A2E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0" y="3566160"/>
            <a:ext cx="44805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收斂為「模型校準」問題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110642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Predictor1-4 預測出的 revert機率、μ_rtop/β_rtop/μ_top/β_top/μ_close/σ_close 等參數，</a:t>
            </a:r>
          </a:p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跟真實美股市場分布形狀存在落差。下游所有篩選/最優化機制（機率cutoff、grid search、</a:t>
            </a:r>
          </a:p>
          <a:p>
            <a:pPr algn="l">
              <a:lnSpc>
                <a:spcPct val="140000"/>
              </a:lnSpc>
            </a:pPr>
            <a:r>
              <a:rPr sz="1450" b="1" i="0">
                <a:solidFill>
                  <a:srgbClr val="CADCFC"/>
                </a:solidFill>
                <a:latin typeface="Calibri"/>
              </a:rPr>
              <a:t>積分公式）即使都正確無誤，最終仍系統性地用命中率換取規模、犧牲了總獲利。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下一步方向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544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訓練收斂狀況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47672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5526B"/>
                </a:solidFill>
                <a:latin typeface="Calibri"/>
              </a:rPr>
              <a:t>檢查 loss curve 是否真的收斂，還是 early stop 在次優點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40" y="29260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78892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Loss Function 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182112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5526B"/>
                </a:solidFill>
                <a:latin typeface="Calibri"/>
              </a:rPr>
              <a:t>Gumbel NLL 對 μ/β 預測的懲罰機制是否有系統性偏誤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77240" y="41605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02336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資料清洗完整度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416552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5526B"/>
                </a:solidFill>
                <a:latin typeface="Calibri"/>
              </a:rPr>
              <a:t>v1 清洗後 ill-conditioned 樣本不減反增，可能需要 v1→v2 再清洗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7240" y="53949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3949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25780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Hyperparameter 重新校準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650992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5526B"/>
                </a:solidFill>
                <a:latin typeface="Calibri"/>
              </a:rPr>
              <a:t>美股波動率尺度/tick size/流動性跟台股不同，沿用原設定是否合適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471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3B5"/>
                </a:solidFill>
                <a:latin typeface="Calibri"/>
              </a:rPr>
              <a:t>建議：動手調整訓練流程前，先確認步驟3、4、5 已驗證完畢，避免浪費GPU額度走錯方向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27432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3832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Calibri"/>
              </a:rPr>
              <a:t>完整紀錄請參考 diagnosis_plan.md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E6268DB-0FAB-448B-9474-2DDCCC829108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29352e3-ba80-4965-9dfe-7f00044a335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1183</Words>
  <Application>Microsoft Office PowerPoint</Application>
  <PresentationFormat>寬螢幕</PresentationFormat>
  <Paragraphs>340</Paragraphs>
  <Slides>15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梁家熏</cp:lastModifiedBy>
  <cp:revision>3</cp:revision>
  <dcterms:created xsi:type="dcterms:W3CDTF">2013-01-27T09:14:16Z</dcterms:created>
  <dcterms:modified xsi:type="dcterms:W3CDTF">2026-06-29T15:34:10Z</dcterms:modified>
  <cp:category/>
</cp:coreProperties>
</file>